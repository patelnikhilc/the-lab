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Orders by Cuisine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American</c:v>
                  </c:pt>
                  <c:pt idx="1">
                    <c:v>Japanese</c:v>
                  </c:pt>
                  <c:pt idx="2">
                    <c:v>Italian</c:v>
                  </c:pt>
                  <c:pt idx="3">
                    <c:v>Chinese</c:v>
                  </c:pt>
                  <c:pt idx="4">
                    <c:v>Mexican</c:v>
                  </c:pt>
                  <c:pt idx="5">
                    <c:v>Indian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584</c:v>
                </c:pt>
                <c:pt idx="1">
                  <c:v>470</c:v>
                </c:pt>
                <c:pt idx="2">
                  <c:v>298</c:v>
                </c:pt>
                <c:pt idx="3">
                  <c:v>215</c:v>
                </c:pt>
                <c:pt idx="4">
                  <c:v>77</c:v>
                </c:pt>
                <c:pt idx="5">
                  <c:v>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Top 5 Restaurants by Volume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Shake Shack</c:v>
                  </c:pt>
                  <c:pt idx="1">
                    <c:v>Meatball Shop</c:v>
                  </c:pt>
                  <c:pt idx="2">
                    <c:v>Blue Ribbon Sushi</c:v>
                  </c:pt>
                  <c:pt idx="3">
                    <c:v>BR Fried Chicken</c:v>
                  </c:pt>
                  <c:pt idx="4">
                    <c:v>Parm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</c:v>
                </c:pt>
                <c:pt idx="1">
                  <c:v>132</c:v>
                </c:pt>
                <c:pt idx="2">
                  <c:v>119</c:v>
                </c:pt>
                <c:pt idx="3">
                  <c:v>96</c:v>
                </c:pt>
                <c:pt idx="4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Orders by Day Type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Weekend</c:v>
                </c:pt>
                <c:pt idx="1">
                  <c:v>Weekday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71</c:v>
                </c:pt>
                <c:pt idx="1">
                  <c:v>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Avg Delivery Time by Day (minutes)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Time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Calibri"/>
              </a:rPr>
              <a:t>Rating Distribution (Rated Orders Only)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Rating 3</c:v>
                  </c:pt>
                  <c:pt idx="1">
                    <c:v>Rating 4</c:v>
                  </c:pt>
                  <c:pt idx="2">
                    <c:v>Rating 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188</c:v>
                </c:pt>
                <c:pt idx="1">
                  <c:v>386</c:v>
                </c:pt>
                <c:pt idx="2">
                  <c:v>588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Calibri"/>
              </a:rPr>
              <a:t>Avg Rating by Cuisine (Top 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Spanish</c:v>
                  </c:pt>
                  <c:pt idx="1">
                    <c:v>Thai</c:v>
                  </c:pt>
                  <c:pt idx="2">
                    <c:v>Indian</c:v>
                  </c:pt>
                  <c:pt idx="3">
                    <c:v>Mexican</c:v>
                  </c:pt>
                  <c:pt idx="4">
                    <c:v>Japanese</c:v>
                  </c:pt>
                  <c:pt idx="5">
                    <c:v>Italian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4.83</c:v>
                </c:pt>
                <c:pt idx="1">
                  <c:v>4.67</c:v>
                </c:pt>
                <c:pt idx="2">
                  <c:v>4.54</c:v>
                </c:pt>
                <c:pt idx="3">
                  <c:v>4.25</c:v>
                </c:pt>
                <c:pt idx="4">
                  <c:v>4.18</c:v>
                </c:pt>
                <c:pt idx="5">
                  <c:v>4.15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Estimated Commission by Cuisine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Commission ($)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4A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American</c:v>
                  </c:pt>
                  <c:pt idx="1">
                    <c:v>Japanese</c:v>
                  </c:pt>
                  <c:pt idx="2">
                    <c:v>Italian</c:v>
                  </c:pt>
                  <c:pt idx="3">
                    <c:v>Chinese</c:v>
                  </c:pt>
                  <c:pt idx="4">
                    <c:v>Mexican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1906</c:v>
                </c:pt>
                <c:pt idx="1">
                  <c:v>1533</c:v>
                </c:pt>
                <c:pt idx="2">
                  <c:v>979</c:v>
                </c:pt>
                <c:pt idx="3">
                  <c:v>701</c:v>
                </c:pt>
                <c:pt idx="4">
                  <c:v>261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FoodHub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Analysis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286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NYC Delivery Market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Patel  |  March 2026  |  Python for Data Science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548640"/>
            <a:ext cx="301752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05088" y="548640"/>
            <a:ext cx="73152" cy="1188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685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1,898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Analyzed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011680"/>
            <a:ext cx="301752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05088" y="2011680"/>
            <a:ext cx="73152" cy="1188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148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$6,166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436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Commission Revenue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3474720"/>
            <a:ext cx="301752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05088" y="3474720"/>
            <a:ext cx="73152" cy="1188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3611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4.34★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 ·  Confidential  |  Nikhil Patel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71.2%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Orders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Leisure-driven demand surge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$6,166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across 1,898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5156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Unrated Orders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feedback gap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51760"/>
            <a:ext cx="269748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28.3 min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Delivery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22.5 min on weekends (+26%)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65176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651760"/>
            <a:ext cx="2697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832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&gt;60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risk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651760"/>
            <a:ext cx="2697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29.2%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26364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Orders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&gt;$20 · drive 60% of revenue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251960"/>
            <a:ext cx="54864" cy="6400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and Japanese cuisines account for 55.6% of all orders and $3,439 in combined commission. Weekend demand is 2.5x weekday demand. Weekday delivery is 26% slower — a logistics gap with direct revenue impact.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Order Analysis  |  March 2026  |  Nikhil Patel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Analytical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connects NYC customers with 100s of restaurants via a single mobile app, earning a fixed margin on every delivery.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order volume and competition grow, leadership needs data-driven answers: which cuisines drive demand? Where are delivery gaps costing loyalty?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must optimize resource allocation, improve rating completion, and identify revenue growth levers.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41148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Approach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92040" y="1783080"/>
            <a:ext cx="36576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1,898 orders · 9 variables · No missing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468880"/>
            <a:ext cx="36576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2450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EDA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of cost, prep time, delivery time, ratings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154680"/>
            <a:ext cx="36576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3136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EDA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Cross-variable relationships: day vs delivery, cuisine vs revenue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840480"/>
            <a:ext cx="36576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leadership questions answered with statistical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Order Analysis  |  March 2026  |  Nikhil Patel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91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Orders Coming From?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100584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389120"/>
            <a:ext cx="54864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" name="Text 5"/>
          <p:cNvSpPr/>
          <p:nvPr/>
        </p:nvSpPr>
        <p:spPr>
          <a:xfrm>
            <a:off x="59436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(30.8%) and Japanese (24.8%) cuisines account for more than half of all orders. Shake Shack alone accounts for 11.5% of total volume — a key partner to protect.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Order Analysis  |  March 2026  |  Nikhil Patel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Timing &amp; Delivery Performance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0584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069080"/>
            <a:ext cx="2697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4096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~51.5 min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4462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avg order fulfillment (prep + delivery)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46120" y="4069080"/>
            <a:ext cx="2697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337560" y="4096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337560" y="4462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exceeding 60 minutes end-to-end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4069080"/>
            <a:ext cx="2697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17920" y="4096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 slower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217920" y="4462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delivery vs weekend baseline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Order Analysis  |  March 2026  |  Nikhil Patel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Ratings &amp; Satisfaction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0584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4114800"/>
            <a:ext cx="54864" cy="7315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gap: 736 orders (38.8%) carry no rating, limiting quality monitoring. Of orders that are rated, 83% score 4 or 5 stars — indicating strong satisfaction when feedback is given. Spanish, Thai and Indian cuisines lead satisfaction scores despite low order volumes.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Order Analysis  |  March 2026  |  Nikhil Patel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91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Structure &amp; Growth Levers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0584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005840"/>
            <a:ext cx="54864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$6,166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60720" y="13533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1508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1,898 orders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187452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874520"/>
            <a:ext cx="54864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$3,689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760720" y="22219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High-Tier Commission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23774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 orders &gt;$20 @ 25% rate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274320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743200"/>
            <a:ext cx="54864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576072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$2,478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760720" y="3090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Commission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60720" y="32461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1,262 orders $5-$20 @ 15% rate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77840" y="3611880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611880"/>
            <a:ext cx="54864" cy="7498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3" name="Text 20"/>
          <p:cNvSpPr/>
          <p:nvPr/>
        </p:nvSpPr>
        <p:spPr>
          <a:xfrm>
            <a:off x="57607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760720" y="39593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29% of orders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60720" y="41148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orders punch above weight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389120"/>
            <a:ext cx="54864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premium orders (&gt;$20) is the single highest-leverage revenue growth action. Shifting just 5% more orders above the $20 threshold adds ~$150 in additional commission.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Order Analysis  |  March 2026  |  Nikhil Patel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0" y="91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to Drive Growth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57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Weekend Operations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417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71.2% of orders are weekend-driven. Increase delivery staff and restaurant partnerships on Sat-Sun.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11480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960120"/>
            <a:ext cx="4114800" cy="457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Weekday Delivery Speed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03520" y="1417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delivery averages 28.3 min vs 22.5 min on weekends. Audit routing and add driver incentives.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331720"/>
            <a:ext cx="411480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331720"/>
            <a:ext cx="4114800" cy="457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Ratings Gap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05840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 of orders go unrated. Launch post-delivery rating prompts with loyalty incentives.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331720"/>
            <a:ext cx="411480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331720"/>
            <a:ext cx="4114800" cy="457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603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High-Satisfaction Cuisines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303520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Spanish, Thai and Indian cuisines lead satisfaction but are underordered. Targeted campaigns can unlock growth.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3703320"/>
            <a:ext cx="411480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703320"/>
            <a:ext cx="4114800" cy="457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3192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High-Value Orders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005840" y="4160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orders &gt;$20 drive 60% of revenue. Promote premium bundles and family packs.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63440" y="3703320"/>
            <a:ext cx="4114800" cy="118872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63440" y="3703320"/>
            <a:ext cx="4114800" cy="4572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3192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0352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Loyalty &amp; Promotions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303520" y="4160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20% vouchers to top customers. Feature 4 promo-eligible restaurants prominently in-app.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FoodHub  ·  Nikhil Patel  |  March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840480" y="2560320"/>
            <a:ext cx="14630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 Patel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 ·  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github.com/patelnikhilc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FoodHub Order Analysis</dc:title>
  <dc:subject>PptxGenJS Presentation</dc:subject>
  <dc:creator>Nikhil Patel</dc:creator>
  <cp:lastModifiedBy>Nikhil Patel</cp:lastModifiedBy>
  <cp:revision>1</cp:revision>
  <dcterms:created xsi:type="dcterms:W3CDTF">2026-04-07T19:26:41Z</dcterms:created>
  <dcterms:modified xsi:type="dcterms:W3CDTF">2026-04-07T19:26:41Z</dcterms:modified>
</cp:coreProperties>
</file>